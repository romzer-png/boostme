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c74ccc9e2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c74ccc9e21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74ccc9e2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c74ccc9e21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-166925" y="-121800"/>
            <a:ext cx="3077400" cy="7128300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 cmpd="sng" w="28575">
            <a:solidFill>
              <a:srgbClr val="FF2D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BoostMe.png" id="85" name="Google Shape;8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475" y="1228676"/>
            <a:ext cx="3119676" cy="29999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80975">
              <a:srgbClr val="000000">
                <a:alpha val="78000"/>
              </a:srgbClr>
            </a:outerShdw>
          </a:effectLst>
        </p:spPr>
      </p:pic>
      <p:sp>
        <p:nvSpPr>
          <p:cNvPr id="86" name="Google Shape;86;p13"/>
          <p:cNvSpPr txBox="1"/>
          <p:nvPr/>
        </p:nvSpPr>
        <p:spPr>
          <a:xfrm>
            <a:off x="4504678" y="2401200"/>
            <a:ext cx="30093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BoostMe</a:t>
            </a:r>
            <a:endParaRPr sz="3700">
              <a:solidFill>
                <a:schemeClr val="lt1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3416875" y="3228900"/>
            <a:ext cx="518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Analyse stratégique des performances YouTube</a:t>
            </a:r>
            <a:endParaRPr sz="3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2480425" y="-193625"/>
            <a:ext cx="6808500" cy="7290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3278020" y="939325"/>
            <a:ext cx="7315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Contexte &amp; Objectif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680325" y="1841975"/>
            <a:ext cx="6463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🎯 Analyse stratégique des performances YouTube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📊 Identifier les leviers de croissance &amp; d’engagement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🚀 Créer un outil décisionnel pour influenceurs &amp; marques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descr="LOGO_BoostM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0300" y="5462551"/>
            <a:ext cx="1235925" cy="1188500"/>
          </a:xfrm>
          <a:prstGeom prst="rect">
            <a:avLst/>
          </a:prstGeom>
          <a:noFill/>
          <a:ln>
            <a:noFill/>
          </a:ln>
          <a:effectLst>
            <a:outerShdw blurRad="157163" rotWithShape="0" algn="bl" dir="5400000" dist="66675">
              <a:srgbClr val="000000">
                <a:alpha val="68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/>
          <p:nvPr/>
        </p:nvSpPr>
        <p:spPr>
          <a:xfrm>
            <a:off x="2480425" y="-193625"/>
            <a:ext cx="6808500" cy="7290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BoostM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0300" y="5462551"/>
            <a:ext cx="1235925" cy="1188500"/>
          </a:xfrm>
          <a:prstGeom prst="rect">
            <a:avLst/>
          </a:prstGeom>
          <a:noFill/>
          <a:ln>
            <a:noFill/>
          </a:ln>
          <a:effectLst>
            <a:outerShdw blurRad="157163" rotWithShape="0" algn="bl" dir="5400000" dist="66675">
              <a:srgbClr val="000000">
                <a:alpha val="68000"/>
              </a:srgbClr>
            </a:outerShdw>
          </a:effectLst>
        </p:spPr>
      </p:pic>
      <p:sp>
        <p:nvSpPr>
          <p:cNvPr id="102" name="Google Shape;102;p15"/>
          <p:cNvSpPr txBox="1"/>
          <p:nvPr/>
        </p:nvSpPr>
        <p:spPr>
          <a:xfrm>
            <a:off x="3083370" y="1191000"/>
            <a:ext cx="7315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Présentation de l’équipe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3266250" y="2105400"/>
            <a:ext cx="73152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👩‍💻 Data Analyst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⚙️ Data Engineer (API &amp; automatisation)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📈 Expert Power BI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🖥 Développeur Streamlit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/>
          <p:nvPr/>
        </p:nvSpPr>
        <p:spPr>
          <a:xfrm>
            <a:off x="2480425" y="-193625"/>
            <a:ext cx="6808500" cy="7290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BoostMe.png" id="109" name="Google Shape;10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0300" y="5462551"/>
            <a:ext cx="1235925" cy="1188500"/>
          </a:xfrm>
          <a:prstGeom prst="rect">
            <a:avLst/>
          </a:prstGeom>
          <a:noFill/>
          <a:ln>
            <a:noFill/>
          </a:ln>
          <a:effectLst>
            <a:outerShdw blurRad="157163" rotWithShape="0" algn="bl" dir="5400000" dist="66675">
              <a:srgbClr val="000000">
                <a:alpha val="68000"/>
              </a:srgbClr>
            </a:outerShdw>
          </a:effectLst>
        </p:spPr>
      </p:pic>
      <p:sp>
        <p:nvSpPr>
          <p:cNvPr id="110" name="Google Shape;110;p16"/>
          <p:cNvSpPr txBox="1"/>
          <p:nvPr/>
        </p:nvSpPr>
        <p:spPr>
          <a:xfrm>
            <a:off x="2824670" y="1268600"/>
            <a:ext cx="7315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Outils </a:t>
            </a:r>
            <a:endParaRPr/>
          </a:p>
        </p:txBody>
      </p:sp>
      <p:sp>
        <p:nvSpPr>
          <p:cNvPr id="111" name="Google Shape;111;p16"/>
          <p:cNvSpPr txBox="1"/>
          <p:nvPr/>
        </p:nvSpPr>
        <p:spPr>
          <a:xfrm>
            <a:off x="3007550" y="2183000"/>
            <a:ext cx="73152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🐍 Python (Pandas, API YouTube)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🗄 SQL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📊 Power BI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🌐 Streamlit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🔁 Git &amp; GitHub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/>
          <p:nvPr/>
        </p:nvSpPr>
        <p:spPr>
          <a:xfrm>
            <a:off x="2480425" y="-193625"/>
            <a:ext cx="6808500" cy="7290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BoostMe.png" id="117" name="Google Shape;11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0300" y="5462551"/>
            <a:ext cx="1235925" cy="1188500"/>
          </a:xfrm>
          <a:prstGeom prst="rect">
            <a:avLst/>
          </a:prstGeom>
          <a:noFill/>
          <a:ln>
            <a:noFill/>
          </a:ln>
          <a:effectLst>
            <a:outerShdw blurRad="157163" rotWithShape="0" algn="bl" dir="5400000" dist="66675">
              <a:srgbClr val="000000">
                <a:alpha val="68000"/>
              </a:srgbClr>
            </a:outerShdw>
          </a:effectLst>
        </p:spPr>
      </p:pic>
      <p:sp>
        <p:nvSpPr>
          <p:cNvPr id="118" name="Google Shape;118;p17"/>
          <p:cNvSpPr txBox="1"/>
          <p:nvPr/>
        </p:nvSpPr>
        <p:spPr>
          <a:xfrm>
            <a:off x="3142170" y="1033400"/>
            <a:ext cx="7315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Méthode Agile</a:t>
            </a:r>
            <a:endParaRPr/>
          </a:p>
        </p:txBody>
      </p:sp>
      <p:sp>
        <p:nvSpPr>
          <p:cNvPr id="119" name="Google Shape;119;p17"/>
          <p:cNvSpPr txBox="1"/>
          <p:nvPr/>
        </p:nvSpPr>
        <p:spPr>
          <a:xfrm>
            <a:off x="3325050" y="1947800"/>
            <a:ext cx="73152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Sprint planning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Daily meeting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Backlog priorisé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Itérations rapides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Amélioration continue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/>
          <p:nvPr/>
        </p:nvSpPr>
        <p:spPr>
          <a:xfrm>
            <a:off x="-167700" y="2017800"/>
            <a:ext cx="9479400" cy="14112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Phase 1 : Analyse Power BI</a:t>
            </a:r>
            <a:endParaRPr/>
          </a:p>
        </p:txBody>
      </p:sp>
      <p:pic>
        <p:nvPicPr>
          <p:cNvPr descr="LOGO_BoostMe.png" id="126" name="Google Shape;12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4038" y="5474301"/>
            <a:ext cx="1235925" cy="1188500"/>
          </a:xfrm>
          <a:prstGeom prst="rect">
            <a:avLst/>
          </a:prstGeom>
          <a:noFill/>
          <a:ln>
            <a:noFill/>
          </a:ln>
          <a:effectLst>
            <a:outerShdw blurRad="157163" rotWithShape="0" algn="bl" dir="5400000" dist="66675">
              <a:srgbClr val="000000">
                <a:alpha val="68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/>
        </p:nvSpPr>
        <p:spPr>
          <a:xfrm>
            <a:off x="731520" y="4572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Dashboard Power BI</a:t>
            </a:r>
            <a:endParaRPr/>
          </a:p>
        </p:txBody>
      </p:sp>
      <p:sp>
        <p:nvSpPr>
          <p:cNvPr id="132" name="Google Shape;132;p19"/>
          <p:cNvSpPr/>
          <p:nvPr/>
        </p:nvSpPr>
        <p:spPr>
          <a:xfrm>
            <a:off x="914400" y="1041075"/>
            <a:ext cx="7315200" cy="4386300"/>
          </a:xfrm>
          <a:prstGeom prst="roundRect">
            <a:avLst>
              <a:gd fmla="val 16667" name="adj"/>
            </a:avLst>
          </a:prstGeom>
          <a:solidFill>
            <a:srgbClr val="E6E6E6"/>
          </a:solidFill>
          <a:ln cap="flat" cmpd="sng" w="9525">
            <a:solidFill>
              <a:srgbClr val="FF2D7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9"/>
          <p:cNvSpPr txBox="1"/>
          <p:nvPr/>
        </p:nvSpPr>
        <p:spPr>
          <a:xfrm>
            <a:off x="971775" y="5519800"/>
            <a:ext cx="6400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KPIs clés : vues, likes, engagement rate</a:t>
            </a:r>
            <a:endParaRPr b="1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Analyse par année, catégorie et chaîne</a:t>
            </a:r>
            <a:endParaRPr b="1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Identification des tendances fortes</a:t>
            </a:r>
            <a:endParaRPr b="1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Support stratégique pour prise de décision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/>
          <p:nvPr/>
        </p:nvSpPr>
        <p:spPr>
          <a:xfrm>
            <a:off x="-108125" y="2017800"/>
            <a:ext cx="9479400" cy="14112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973200" y="2357250"/>
            <a:ext cx="7315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Phase 2 : Application Streamlit</a:t>
            </a:r>
            <a:endParaRPr/>
          </a:p>
        </p:txBody>
      </p:sp>
      <p:pic>
        <p:nvPicPr>
          <p:cNvPr descr="LOGO_BoostMe.png" id="140" name="Google Shape;14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4038" y="5462551"/>
            <a:ext cx="1235925" cy="1188500"/>
          </a:xfrm>
          <a:prstGeom prst="rect">
            <a:avLst/>
          </a:prstGeom>
          <a:noFill/>
          <a:ln>
            <a:noFill/>
          </a:ln>
          <a:effectLst>
            <a:outerShdw blurRad="157163" rotWithShape="0" algn="bl" dir="5400000" dist="66675">
              <a:srgbClr val="000000">
                <a:alpha val="68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/>
        </p:nvSpPr>
        <p:spPr>
          <a:xfrm>
            <a:off x="731520" y="4572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Application Interactive BoostMe</a:t>
            </a:r>
            <a:endParaRPr/>
          </a:p>
        </p:txBody>
      </p:sp>
      <p:sp>
        <p:nvSpPr>
          <p:cNvPr id="146" name="Google Shape;146;p21"/>
          <p:cNvSpPr/>
          <p:nvPr/>
        </p:nvSpPr>
        <p:spPr>
          <a:xfrm>
            <a:off x="914400" y="1371600"/>
            <a:ext cx="7315200" cy="3200400"/>
          </a:xfrm>
          <a:prstGeom prst="roundRect">
            <a:avLst>
              <a:gd fmla="val 16667" name="adj"/>
            </a:avLst>
          </a:prstGeom>
          <a:solidFill>
            <a:srgbClr val="E6E6E6"/>
          </a:solidFill>
          <a:ln cap="flat" cmpd="sng" w="9525">
            <a:solidFill>
              <a:srgbClr val="FF2D7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1"/>
          <p:cNvSpPr txBox="1"/>
          <p:nvPr/>
        </p:nvSpPr>
        <p:spPr>
          <a:xfrm>
            <a:off x="1188725" y="4826000"/>
            <a:ext cx="6400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Filtres dynamiques multi-critères</a:t>
            </a:r>
            <a:endParaRPr b="1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Analyse en temps réel</a:t>
            </a:r>
            <a:endParaRPr b="1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UX moderne &amp; intuitive</a:t>
            </a:r>
            <a:endParaRPr b="1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Outil prêt pour déploiement client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/>
          <p:nvPr/>
        </p:nvSpPr>
        <p:spPr>
          <a:xfrm>
            <a:off x="-108125" y="2017800"/>
            <a:ext cx="9479400" cy="14112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2"/>
          <p:cNvSpPr txBox="1"/>
          <p:nvPr/>
        </p:nvSpPr>
        <p:spPr>
          <a:xfrm>
            <a:off x="973200" y="2357250"/>
            <a:ext cx="7315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Phase 3 : Automatisation Airflow</a:t>
            </a:r>
            <a:endParaRPr/>
          </a:p>
        </p:txBody>
      </p:sp>
      <p:pic>
        <p:nvPicPr>
          <p:cNvPr descr="LOGO_BoostMe.png" id="154" name="Google Shape;15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13613" y="5439026"/>
            <a:ext cx="1235925" cy="1188500"/>
          </a:xfrm>
          <a:prstGeom prst="rect">
            <a:avLst/>
          </a:prstGeom>
          <a:noFill/>
          <a:ln>
            <a:noFill/>
          </a:ln>
          <a:effectLst>
            <a:outerShdw blurRad="157163" rotWithShape="0" algn="bl" dir="5400000" dist="66675">
              <a:srgbClr val="000000">
                <a:alpha val="68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/>
          <p:nvPr/>
        </p:nvSpPr>
        <p:spPr>
          <a:xfrm>
            <a:off x="328475" y="457200"/>
            <a:ext cx="8584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DAG d’automatisation de récolte des vidéos Youtube</a:t>
            </a:r>
            <a:endParaRPr/>
          </a:p>
        </p:txBody>
      </p:sp>
      <p:sp>
        <p:nvSpPr>
          <p:cNvPr id="160" name="Google Shape;160;p23"/>
          <p:cNvSpPr/>
          <p:nvPr/>
        </p:nvSpPr>
        <p:spPr>
          <a:xfrm>
            <a:off x="914400" y="1371600"/>
            <a:ext cx="7315200" cy="3200400"/>
          </a:xfrm>
          <a:prstGeom prst="roundRect">
            <a:avLst>
              <a:gd fmla="val 16667" name="adj"/>
            </a:avLst>
          </a:prstGeom>
          <a:solidFill>
            <a:srgbClr val="E6E6E6"/>
          </a:solidFill>
          <a:ln cap="flat" cmpd="sng" w="9525">
            <a:solidFill>
              <a:srgbClr val="FF2D7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3"/>
          <p:cNvSpPr txBox="1"/>
          <p:nvPr/>
        </p:nvSpPr>
        <p:spPr>
          <a:xfrm>
            <a:off x="1188725" y="4826000"/>
            <a:ext cx="640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texte 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/>
          <p:nvPr/>
        </p:nvSpPr>
        <p:spPr>
          <a:xfrm>
            <a:off x="2480425" y="-193625"/>
            <a:ext cx="6808500" cy="7290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BoostMe.png" id="167" name="Google Shape;16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0300" y="5462551"/>
            <a:ext cx="1235925" cy="1188500"/>
          </a:xfrm>
          <a:prstGeom prst="rect">
            <a:avLst/>
          </a:prstGeom>
          <a:noFill/>
          <a:ln>
            <a:noFill/>
          </a:ln>
          <a:effectLst>
            <a:outerShdw blurRad="157163" rotWithShape="0" algn="bl" dir="5400000" dist="66675">
              <a:srgbClr val="000000">
                <a:alpha val="68000"/>
              </a:srgbClr>
            </a:outerShdw>
          </a:effectLst>
        </p:spPr>
      </p:pic>
      <p:sp>
        <p:nvSpPr>
          <p:cNvPr id="168" name="Google Shape;168;p24"/>
          <p:cNvSpPr txBox="1"/>
          <p:nvPr/>
        </p:nvSpPr>
        <p:spPr>
          <a:xfrm>
            <a:off x="3036220" y="1292125"/>
            <a:ext cx="7315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Axes d’amélioration</a:t>
            </a:r>
            <a:endParaRPr/>
          </a:p>
        </p:txBody>
      </p:sp>
      <p:sp>
        <p:nvSpPr>
          <p:cNvPr id="169" name="Google Shape;169;p24"/>
          <p:cNvSpPr txBox="1"/>
          <p:nvPr/>
        </p:nvSpPr>
        <p:spPr>
          <a:xfrm>
            <a:off x="3219100" y="2206525"/>
            <a:ext cx="73152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Ajout Instagram &amp; TikTok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Automatisation complète des pipelines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Machine Learning prédictif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Déploiement Cloud (Streamlit Cloud / Azure)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/>
          <p:nvPr/>
        </p:nvSpPr>
        <p:spPr>
          <a:xfrm>
            <a:off x="2480425" y="-193625"/>
            <a:ext cx="6808500" cy="7290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BoostMe.png" id="175" name="Google Shape;17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0300" y="5462551"/>
            <a:ext cx="1235925" cy="1188500"/>
          </a:xfrm>
          <a:prstGeom prst="rect">
            <a:avLst/>
          </a:prstGeom>
          <a:noFill/>
          <a:ln>
            <a:noFill/>
          </a:ln>
          <a:effectLst>
            <a:outerShdw blurRad="157163" rotWithShape="0" algn="bl" dir="5400000" dist="66675">
              <a:srgbClr val="000000">
                <a:alpha val="68000"/>
              </a:srgbClr>
            </a:outerShdw>
          </a:effectLst>
        </p:spPr>
      </p:pic>
      <p:sp>
        <p:nvSpPr>
          <p:cNvPr id="176" name="Google Shape;176;p25"/>
          <p:cNvSpPr txBox="1"/>
          <p:nvPr/>
        </p:nvSpPr>
        <p:spPr>
          <a:xfrm>
            <a:off x="2965770" y="1151000"/>
            <a:ext cx="7315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177" name="Google Shape;177;p25"/>
          <p:cNvSpPr txBox="1"/>
          <p:nvPr/>
        </p:nvSpPr>
        <p:spPr>
          <a:xfrm>
            <a:off x="3148650" y="2065400"/>
            <a:ext cx="7315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BoostMe = Labo d’influence data-driven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stratégique &amp; évolutive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Vision : plateforme multi-réseaux intelligente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